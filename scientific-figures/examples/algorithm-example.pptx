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408000" cy="59703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1994694" y="446762"/>
            <a:ext cx="2418611" cy="406147"/>
          </a:xfrm>
          <a:prstGeom prst="homePlate">
            <a:avLst/>
          </a:prstGeom>
          <a:solidFill>
            <a:srgbClr val="FFFFFF"/>
          </a:solidFill>
          <a:ln w="1015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99">
                <a:solidFill>
                  <a:srgbClr val="1A1A1A"/>
                </a:solidFill>
              </a:defRPr>
            </a:pPr>
            <a:r>
              <a:t>Unexplained dyspnoea in MPN</a:t>
            </a:r>
          </a:p>
        </p:txBody>
      </p:sp>
      <p:sp>
        <p:nvSpPr>
          <p:cNvPr id="3" name="Rectangle 2"/>
          <p:cNvSpPr/>
          <p:nvPr/>
        </p:nvSpPr>
        <p:spPr>
          <a:xfrm>
            <a:off x="1955094" y="1401210"/>
            <a:ext cx="2497810" cy="406147"/>
          </a:xfrm>
          <a:prstGeom prst="rect">
            <a:avLst/>
          </a:prstGeom>
          <a:solidFill>
            <a:srgbClr val="FFFFFF"/>
          </a:solidFill>
          <a:ln w="1015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99">
                <a:solidFill>
                  <a:srgbClr val="1A1A1A"/>
                </a:solidFill>
              </a:defRPr>
            </a:pPr>
            <a:r>
              <a:t>Transthoracic echocardiography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2032770" y="2355658"/>
            <a:ext cx="2342458" cy="406147"/>
          </a:xfrm>
          <a:prstGeom prst="rect">
            <a:avLst/>
          </a:prstGeom>
          <a:solidFill>
            <a:srgbClr val="FFFFFF"/>
          </a:solidFill>
          <a:ln w="1015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99">
                <a:solidFill>
                  <a:srgbClr val="1A1A1A"/>
                </a:solidFill>
              </a:defRPr>
            </a:pPr>
            <a:r>
              <a:t>Echocardiographic probability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345225" y="3310106"/>
            <a:ext cx="2820697" cy="406147"/>
          </a:xfrm>
          <a:prstGeom prst="rect">
            <a:avLst/>
          </a:prstGeom>
          <a:solidFill>
            <a:srgbClr val="FFFFFF"/>
          </a:solidFill>
          <a:ln w="1015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99">
                <a:solidFill>
                  <a:srgbClr val="1A1A1A"/>
                </a:solidFill>
              </a:defRPr>
            </a:pPr>
            <a:r>
              <a:t>Low probability: seek another cause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7912" y="3310106"/>
            <a:ext cx="2104861" cy="406147"/>
          </a:xfrm>
          <a:prstGeom prst="rect">
            <a:avLst/>
          </a:prstGeom>
          <a:solidFill>
            <a:srgbClr val="FFFFFF"/>
          </a:solidFill>
          <a:ln w="1015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99">
                <a:solidFill>
                  <a:srgbClr val="1A1A1A"/>
                </a:solidFill>
              </a:defRPr>
            </a:pPr>
            <a:r>
              <a:t>Right heart catheterisation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942910" y="4264553"/>
            <a:ext cx="2522179" cy="406147"/>
          </a:xfrm>
          <a:prstGeom prst="rect">
            <a:avLst/>
          </a:prstGeom>
          <a:solidFill>
            <a:srgbClr val="FFFFFF"/>
          </a:solidFill>
          <a:ln w="10153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99">
                <a:solidFill>
                  <a:srgbClr val="1A1A1A"/>
                </a:solidFill>
              </a:defRPr>
            </a:pPr>
            <a:r>
              <a:t>Mean pulmonary artery pressure</a:t>
            </a:r>
          </a:p>
        </p:txBody>
      </p:sp>
      <p:sp>
        <p:nvSpPr>
          <p:cNvPr id="8" name="Pentagon 7"/>
          <p:cNvSpPr/>
          <p:nvPr/>
        </p:nvSpPr>
        <p:spPr>
          <a:xfrm>
            <a:off x="1851527" y="5219001"/>
            <a:ext cx="2704945" cy="406147"/>
          </a:xfrm>
          <a:prstGeom prst="homePlate">
            <a:avLst/>
          </a:prstGeom>
          <a:solidFill>
            <a:srgbClr val="FFFFFF"/>
          </a:solidFill>
          <a:ln w="10153">
            <a:solidFill>
              <a:srgbClr val="0B6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199">
                <a:solidFill>
                  <a:srgbClr val="1A1A1A"/>
                </a:solidFill>
              </a:defRPr>
            </a:pPr>
            <a:r>
              <a:t>Pulmonary hypertension confirmed</a:t>
            </a:r>
          </a:p>
        </p:txBody>
      </p:sp>
      <p:cxnSp>
        <p:nvCxnSpPr>
          <p:cNvPr id="9" name="Connector 8"/>
          <p:cNvCxnSpPr>
            <a:stCxn id="2" idx="3"/>
            <a:endCxn id="3" idx="1"/>
          </p:cNvCxnSpPr>
          <p:nvPr/>
        </p:nvCxnSpPr>
        <p:spPr>
          <a:xfrm flipH="1">
            <a:off x="1955094" y="649835"/>
            <a:ext cx="2458211" cy="954448"/>
          </a:xfrm>
          <a:prstGeom prst="line">
            <a:avLst/>
          </a:prstGeom>
          <a:ln w="1015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3" idx="3"/>
            <a:endCxn id="4" idx="1"/>
          </p:cNvCxnSpPr>
          <p:nvPr/>
        </p:nvCxnSpPr>
        <p:spPr>
          <a:xfrm flipH="1">
            <a:off x="2032770" y="1604283"/>
            <a:ext cx="2420134" cy="954448"/>
          </a:xfrm>
          <a:prstGeom prst="line">
            <a:avLst/>
          </a:prstGeom>
          <a:ln w="1015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4" idx="3"/>
            <a:endCxn id="5" idx="1"/>
          </p:cNvCxnSpPr>
          <p:nvPr/>
        </p:nvCxnSpPr>
        <p:spPr>
          <a:xfrm flipH="1">
            <a:off x="345225" y="2558731"/>
            <a:ext cx="4030003" cy="954448"/>
          </a:xfrm>
          <a:prstGeom prst="line">
            <a:avLst/>
          </a:prstGeom>
          <a:ln w="1015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4" idx="3"/>
            <a:endCxn id="6" idx="1"/>
          </p:cNvCxnSpPr>
          <p:nvPr/>
        </p:nvCxnSpPr>
        <p:spPr>
          <a:xfrm flipH="1">
            <a:off x="3957912" y="2558731"/>
            <a:ext cx="417316" cy="954448"/>
          </a:xfrm>
          <a:prstGeom prst="line">
            <a:avLst/>
          </a:prstGeom>
          <a:ln w="1015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6" idx="3"/>
            <a:endCxn id="7" idx="1"/>
          </p:cNvCxnSpPr>
          <p:nvPr/>
        </p:nvCxnSpPr>
        <p:spPr>
          <a:xfrm flipH="1">
            <a:off x="1942910" y="3513179"/>
            <a:ext cx="4119863" cy="954447"/>
          </a:xfrm>
          <a:prstGeom prst="line">
            <a:avLst/>
          </a:prstGeom>
          <a:ln w="10153">
            <a:solidFill>
              <a:srgbClr val="8E8E8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7" idx="3"/>
            <a:endCxn id="8" idx="1"/>
          </p:cNvCxnSpPr>
          <p:nvPr/>
        </p:nvCxnSpPr>
        <p:spPr>
          <a:xfrm flipH="1">
            <a:off x="1851527" y="4467626"/>
            <a:ext cx="2613562" cy="954448"/>
          </a:xfrm>
          <a:prstGeom prst="line">
            <a:avLst/>
          </a:prstGeom>
          <a:ln w="15230">
            <a:solidFill>
              <a:srgbClr val="0B6E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