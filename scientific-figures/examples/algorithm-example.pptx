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6408000" cy="6887971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1901845" y="481064"/>
            <a:ext cx="2604309" cy="437331"/>
          </a:xfrm>
          <a:prstGeom prst="homePlate">
            <a:avLst/>
          </a:prstGeom>
          <a:solidFill>
            <a:srgbClr val="FFFFFF"/>
          </a:solidFill>
          <a:ln w="10933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291">
                <a:solidFill>
                  <a:srgbClr val="1A1A1A"/>
                </a:solidFill>
              </a:defRPr>
            </a:pPr>
            <a:r>
              <a:t>Unexplained dyspnoea in MPN</a:t>
            </a:r>
          </a:p>
        </p:txBody>
      </p:sp>
      <p:sp>
        <p:nvSpPr>
          <p:cNvPr id="3" name="Rectangle 2"/>
          <p:cNvSpPr/>
          <p:nvPr/>
        </p:nvSpPr>
        <p:spPr>
          <a:xfrm>
            <a:off x="1859205" y="1508793"/>
            <a:ext cx="2689588" cy="437331"/>
          </a:xfrm>
          <a:prstGeom prst="rect">
            <a:avLst/>
          </a:prstGeom>
          <a:solidFill>
            <a:srgbClr val="FFFFFF"/>
          </a:solidFill>
          <a:ln w="10933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291">
                <a:solidFill>
                  <a:srgbClr val="1A1A1A"/>
                </a:solidFill>
              </a:defRPr>
            </a:pPr>
            <a:r>
              <a:t>Transthoracic echocardiography</a:t>
            </a:r>
          </a:p>
        </p:txBody>
      </p:sp>
      <p:sp>
        <p:nvSpPr>
          <p:cNvPr id="4" name="Rectangle 3"/>
          <p:cNvSpPr/>
          <p:nvPr/>
        </p:nvSpPr>
        <p:spPr>
          <a:xfrm>
            <a:off x="1942845" y="2536522"/>
            <a:ext cx="2522309" cy="437331"/>
          </a:xfrm>
          <a:prstGeom prst="rect">
            <a:avLst/>
          </a:prstGeom>
          <a:solidFill>
            <a:srgbClr val="FFFFFF"/>
          </a:solidFill>
          <a:ln w="10933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291">
                <a:solidFill>
                  <a:srgbClr val="1A1A1A"/>
                </a:solidFill>
              </a:defRPr>
            </a:pPr>
            <a:r>
              <a:t>Echocardiographic probability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371731" y="3564251"/>
            <a:ext cx="2545269" cy="437331"/>
          </a:xfrm>
          <a:prstGeom prst="rect">
            <a:avLst/>
          </a:prstGeom>
          <a:solidFill>
            <a:srgbClr val="FFFFFF"/>
          </a:solidFill>
          <a:ln w="10933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291">
                <a:solidFill>
                  <a:srgbClr val="1A1A1A"/>
                </a:solidFill>
              </a:defRPr>
            </a:pPr>
            <a:r>
              <a:t>Low probability: seek another cause</a:t>
            </a:r>
          </a:p>
        </p:txBody>
      </p:sp>
      <p:sp>
        <p:nvSpPr>
          <p:cNvPr id="6" name="Rectangle 5"/>
          <p:cNvSpPr/>
          <p:nvPr/>
        </p:nvSpPr>
        <p:spPr>
          <a:xfrm>
            <a:off x="3769797" y="3564251"/>
            <a:ext cx="2266470" cy="437331"/>
          </a:xfrm>
          <a:prstGeom prst="rect">
            <a:avLst/>
          </a:prstGeom>
          <a:solidFill>
            <a:srgbClr val="FFFFFF"/>
          </a:solidFill>
          <a:ln w="10933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291">
                <a:solidFill>
                  <a:srgbClr val="1A1A1A"/>
                </a:solidFill>
              </a:defRPr>
            </a:pPr>
            <a:r>
              <a:t>Right heart catheterisation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846085" y="4821579"/>
            <a:ext cx="2715828" cy="437331"/>
          </a:xfrm>
          <a:prstGeom prst="rect">
            <a:avLst/>
          </a:prstGeom>
          <a:solidFill>
            <a:srgbClr val="FFFFFF"/>
          </a:solidFill>
          <a:ln w="10933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291">
                <a:solidFill>
                  <a:srgbClr val="1A1A1A"/>
                </a:solidFill>
              </a:defRPr>
            </a:pPr>
            <a:r>
              <a:t>Mean pulmonary artery pressure</a:t>
            </a:r>
          </a:p>
        </p:txBody>
      </p:sp>
      <p:sp>
        <p:nvSpPr>
          <p:cNvPr id="8" name="Pentagon 7"/>
          <p:cNvSpPr/>
          <p:nvPr/>
        </p:nvSpPr>
        <p:spPr>
          <a:xfrm>
            <a:off x="2142924" y="5849308"/>
            <a:ext cx="2122151" cy="437331"/>
          </a:xfrm>
          <a:prstGeom prst="homePlate">
            <a:avLst/>
          </a:prstGeom>
          <a:solidFill>
            <a:srgbClr val="FFFFFF"/>
          </a:solidFill>
          <a:ln w="10933">
            <a:solidFill>
              <a:srgbClr val="0B6E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291">
                <a:solidFill>
                  <a:srgbClr val="1A1A1A"/>
                </a:solidFill>
              </a:defRPr>
            </a:pPr>
            <a:r>
              <a:t>Pulmonary hypertension confirmed</a:t>
            </a:r>
          </a:p>
        </p:txBody>
      </p:sp>
      <p:cxnSp>
        <p:nvCxnSpPr>
          <p:cNvPr id="9" name="Connector 8"/>
          <p:cNvCxnSpPr>
            <a:stCxn id="2" idx="3"/>
            <a:endCxn id="3" idx="1"/>
          </p:cNvCxnSpPr>
          <p:nvPr/>
        </p:nvCxnSpPr>
        <p:spPr>
          <a:xfrm flipH="1">
            <a:off x="1859205" y="699729"/>
            <a:ext cx="2646949" cy="1027729"/>
          </a:xfrm>
          <a:prstGeom prst="line">
            <a:avLst/>
          </a:prstGeom>
          <a:ln w="10933">
            <a:solidFill>
              <a:srgbClr val="8E8E8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stCxn id="3" idx="3"/>
            <a:endCxn id="4" idx="1"/>
          </p:cNvCxnSpPr>
          <p:nvPr/>
        </p:nvCxnSpPr>
        <p:spPr>
          <a:xfrm flipH="1">
            <a:off x="1942845" y="1727458"/>
            <a:ext cx="2605948" cy="1027729"/>
          </a:xfrm>
          <a:prstGeom prst="line">
            <a:avLst/>
          </a:prstGeom>
          <a:ln w="10933">
            <a:solidFill>
              <a:srgbClr val="8E8E8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4" idx="3"/>
            <a:endCxn id="5" idx="1"/>
          </p:cNvCxnSpPr>
          <p:nvPr/>
        </p:nvCxnSpPr>
        <p:spPr>
          <a:xfrm flipH="1">
            <a:off x="371731" y="2755187"/>
            <a:ext cx="4093423" cy="1027729"/>
          </a:xfrm>
          <a:prstGeom prst="line">
            <a:avLst/>
          </a:prstGeom>
          <a:ln w="10933">
            <a:solidFill>
              <a:srgbClr val="8E8E8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4" idx="3"/>
            <a:endCxn id="6" idx="1"/>
          </p:cNvCxnSpPr>
          <p:nvPr/>
        </p:nvCxnSpPr>
        <p:spPr>
          <a:xfrm flipH="1">
            <a:off x="3769797" y="2755187"/>
            <a:ext cx="695357" cy="1027729"/>
          </a:xfrm>
          <a:prstGeom prst="line">
            <a:avLst/>
          </a:prstGeom>
          <a:ln w="10933">
            <a:solidFill>
              <a:srgbClr val="8E8E8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6" idx="3"/>
            <a:endCxn id="7" idx="1"/>
          </p:cNvCxnSpPr>
          <p:nvPr/>
        </p:nvCxnSpPr>
        <p:spPr>
          <a:xfrm flipH="1">
            <a:off x="1846085" y="3782916"/>
            <a:ext cx="4190182" cy="1257328"/>
          </a:xfrm>
          <a:prstGeom prst="line">
            <a:avLst/>
          </a:prstGeom>
          <a:ln w="10933">
            <a:solidFill>
              <a:srgbClr val="8E8E8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stCxn id="7" idx="3"/>
            <a:endCxn id="8" idx="1"/>
          </p:cNvCxnSpPr>
          <p:nvPr/>
        </p:nvCxnSpPr>
        <p:spPr>
          <a:xfrm flipH="1">
            <a:off x="2142924" y="5040244"/>
            <a:ext cx="2418989" cy="1027729"/>
          </a:xfrm>
          <a:prstGeom prst="line">
            <a:avLst/>
          </a:prstGeom>
          <a:ln w="16399">
            <a:solidFill>
              <a:srgbClr val="0B6E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0" y="6671971"/>
            <a:ext cx="6408000" cy="19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i="1">
                <a:solidFill>
                  <a:srgbClr val="B3261E"/>
                </a:solidFill>
              </a:defRPr>
            </a:pPr>
            <a:r>
              <a:t>Export preview, not the figure: legend not reproduced.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